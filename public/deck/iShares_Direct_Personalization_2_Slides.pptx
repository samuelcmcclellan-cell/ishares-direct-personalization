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Products to Portfolios to Personalized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iShares can evolve beyond ETF manufacturing to become a portfolio construction and personalization engine for direct investors.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66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426464"/>
            <a:ext cx="457200" cy="18288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600200"/>
            <a:ext cx="73152" cy="73152"/>
          </a:xfrm>
          <a:prstGeom prst="ellipse">
            <a:avLst/>
          </a:prstGeom>
          <a:solidFill>
            <a:srgbClr val="F6693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investors want guidance, not just product access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103120"/>
            <a:ext cx="73152" cy="73152"/>
          </a:xfrm>
          <a:prstGeom prst="ellipse">
            <a:avLst/>
          </a:prstGeom>
          <a:solidFill>
            <a:srgbClr val="F6693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0574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5-question behavioral intake now profiles age, goals, risk temperament, and time horizon — no jargon, no complexity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606040"/>
            <a:ext cx="73152" cy="73152"/>
          </a:xfrm>
          <a:prstGeom prst="ellipse">
            <a:avLst/>
          </a:prstGeom>
          <a:solidFill>
            <a:srgbClr val="F6693D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603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enables scaled personalization without building a separate advice business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108960"/>
            <a:ext cx="73152" cy="73152"/>
          </a:xfrm>
          <a:prstGeom prst="ellipse">
            <a:avLst/>
          </a:prstGeom>
          <a:solidFill>
            <a:srgbClr val="F6693D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063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iShares can connect education, guidance, and implementation in a single consumer journey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1207008"/>
            <a:ext cx="0" cy="306324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0700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66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EXPERIENCE DOES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426464"/>
            <a:ext cx="457200" cy="18288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1572768"/>
            <a:ext cx="3794760" cy="1417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6824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INPUTS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983480" y="1911096"/>
            <a:ext cx="36576" cy="164592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22" name="Text 20"/>
          <p:cNvSpPr/>
          <p:nvPr/>
        </p:nvSpPr>
        <p:spPr>
          <a:xfrm>
            <a:off x="5111496" y="18928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range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2112264"/>
            <a:ext cx="36576" cy="164592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24" name="Text 22"/>
          <p:cNvSpPr/>
          <p:nvPr/>
        </p:nvSpPr>
        <p:spPr>
          <a:xfrm>
            <a:off x="5111496" y="20939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goal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2313432"/>
            <a:ext cx="36576" cy="164592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26" name="Text 24"/>
          <p:cNvSpPr/>
          <p:nvPr/>
        </p:nvSpPr>
        <p:spPr>
          <a:xfrm>
            <a:off x="5111496" y="22951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drop reaction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2514600"/>
            <a:ext cx="36576" cy="164592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28" name="Text 26"/>
          <p:cNvSpPr/>
          <p:nvPr/>
        </p:nvSpPr>
        <p:spPr>
          <a:xfrm>
            <a:off x="5111496" y="24963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vs. growth preference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83480" y="2715768"/>
            <a:ext cx="36576" cy="164592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30" name="Text 28"/>
          <p:cNvSpPr/>
          <p:nvPr/>
        </p:nvSpPr>
        <p:spPr>
          <a:xfrm>
            <a:off x="5111496" y="26974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time horizon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19125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E5E5E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31912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06440" y="319125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6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72200" y="319125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F669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72200" y="31912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78040" y="319125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6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43800" y="319125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33333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43800" y="31912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00600" y="37581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each investor to a curated portfolio solution that fits their profile.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INTERNAL USE ONLY. NOT FOR DISTRIBUTION. THIS MATERIAL IS NOT INVESTMENT ADVICE.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412480" y="4617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Roadmap: Start Simple, Scale With Confidence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pragmatic path from structured guidance today to AI-enhanced matching over time — no leap of faith required.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61872"/>
            <a:ext cx="8046720" cy="365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" name="Shape 5"/>
          <p:cNvSpPr/>
          <p:nvPr/>
        </p:nvSpPr>
        <p:spPr>
          <a:xfrm>
            <a:off x="1412748" y="1207008"/>
            <a:ext cx="146304" cy="146304"/>
          </a:xfrm>
          <a:prstGeom prst="ellipse">
            <a:avLst/>
          </a:prstGeom>
          <a:solidFill>
            <a:srgbClr val="F6693D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4475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44752"/>
            <a:ext cx="1874520" cy="45720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544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66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88720" y="1554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58368" y="175564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Guided Matching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011680"/>
            <a:ext cx="1655064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084832"/>
            <a:ext cx="16550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5-question behavioral intake: age, goal, risk temperament, time horizon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Rules-based matching to 5 prebuilt iShares ETF portfolios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rationale for every recommendation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0148" y="1207008"/>
            <a:ext cx="146304" cy="146304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144475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444752"/>
            <a:ext cx="187452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15768" y="15544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46120" y="1554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715768" y="175564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Enhanced Personalization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15768" y="2011680"/>
            <a:ext cx="1655064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2084832"/>
            <a:ext cx="16550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AI follow-up questions based on initial responses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model library (10+ portfolios)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situation and account type inputs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27548" y="1207008"/>
            <a:ext cx="146304" cy="146304"/>
          </a:xfrm>
          <a:prstGeom prst="ellipse">
            <a:avLst/>
          </a:prstGeom>
          <a:solidFill>
            <a:srgbClr val="00A85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144475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444752"/>
            <a:ext cx="1874520" cy="45720"/>
          </a:xfrm>
          <a:prstGeom prst="rect">
            <a:avLst/>
          </a:prstGeom>
          <a:solidFill>
            <a:srgbClr val="00A854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15544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A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03520" y="1554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73168" y="175564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Dynamic Construction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73168" y="2011680"/>
            <a:ext cx="1655064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084832"/>
            <a:ext cx="16550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allocation ranges vs. fixed models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optimization within defined guardrails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regime awareness for allocation tilts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84948" y="1207008"/>
            <a:ext cx="146304" cy="146304"/>
          </a:xfrm>
          <a:prstGeom prst="ellipse">
            <a:avLst/>
          </a:prstGeom>
          <a:solidFill>
            <a:srgbClr val="008B8B"/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44475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20840" y="1444752"/>
            <a:ext cx="1874520" cy="45720"/>
          </a:xfrm>
          <a:prstGeom prst="rect">
            <a:avLst/>
          </a:prstGeom>
          <a:solidFill>
            <a:srgbClr val="008B8B"/>
          </a:solidFill>
          <a:ln/>
        </p:spPr>
      </p:sp>
      <p:sp>
        <p:nvSpPr>
          <p:cNvPr id="34" name="Text 32"/>
          <p:cNvSpPr/>
          <p:nvPr/>
        </p:nvSpPr>
        <p:spPr>
          <a:xfrm>
            <a:off x="6830568" y="15544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60920" y="1554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30568" y="175564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Ongoing Guidance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30568" y="2011680"/>
            <a:ext cx="1655064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0568" y="2084832"/>
            <a:ext cx="16550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Brokerage account integration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rebalancing alerts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event triggers and personalized insights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23160" y="11704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80560" y="11704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37960" y="11704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❯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3794760"/>
            <a:ext cx="8046720" cy="5669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3794760"/>
            <a:ext cx="54864" cy="566928"/>
          </a:xfrm>
          <a:prstGeom prst="rect">
            <a:avLst/>
          </a:prstGeom>
          <a:solidFill>
            <a:srgbClr val="F6693D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38496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66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77240" y="40142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end-state is not “AI builds a bespoke portfolio for every client.” It is a scalable matching engine that guides each investor to the right prebuilt solution — and stays with them over time.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INTERNAL USE ONLY. NOT FOR DISTRIBUTION. THIS MATERIAL IS NOT INVESTMENT ADVICE.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617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iShares Direct Personalization</dc:title>
  <dc:subject>PptxGenJS Presentation</dc:subject>
  <dc:creator>iShares Strategy</dc:creator>
  <cp:lastModifiedBy>iShares Strategy</cp:lastModifiedBy>
  <cp:revision>1</cp:revision>
  <dcterms:created xsi:type="dcterms:W3CDTF">2026-03-27T04:26:34Z</dcterms:created>
  <dcterms:modified xsi:type="dcterms:W3CDTF">2026-03-27T04:26:34Z</dcterms:modified>
</cp:coreProperties>
</file>