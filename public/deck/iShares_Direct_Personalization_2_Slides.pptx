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772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ETF Provider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 Personalization Engine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iShares has the scale, lineup, and brand to guide self-directed investors from product selection to personalized portfolios.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743200" cy="0"/>
          </a:xfrm>
          <a:prstGeom prst="line">
            <a:avLst/>
          </a:prstGeom>
          <a:noFill/>
          <a:ln w="38100">
            <a:solidFill>
              <a:srgbClr val="FFD1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7889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75M+ self-directed investors want guidance but don't meet advisor minimums or need advisor-level services — they need a product-embedded solution.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32461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Schwab, Vanguard, and Wealthfront are racing to own the personalization layer. iShares isn't in the race yet.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path forward: start with simple allocation models, then layer in AI-driven personalization over time.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FD1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Ways to Build This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spectrum from fast-to-market simplicity to full AI-powered portfolio intelligence. Start anywhere, evolve over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31520" y="1444752"/>
            <a:ext cx="7680960" cy="0"/>
          </a:xfrm>
          <a:prstGeom prst="line">
            <a:avLst/>
          </a:prstGeom>
          <a:noFill/>
          <a:ln w="25400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872" y="1335024"/>
            <a:ext cx="219456" cy="219456"/>
          </a:xfrm>
          <a:prstGeom prst="ellipse">
            <a:avLst/>
          </a:prstGeom>
          <a:solidFill>
            <a:srgbClr val="00A854"/>
          </a:solidFill>
          <a:ln/>
        </p:spPr>
      </p:sp>
      <p:sp>
        <p:nvSpPr>
          <p:cNvPr id="7" name="Shape 5"/>
          <p:cNvSpPr/>
          <p:nvPr/>
        </p:nvSpPr>
        <p:spPr>
          <a:xfrm>
            <a:off x="4325112" y="1335024"/>
            <a:ext cx="219456" cy="219456"/>
          </a:xfrm>
          <a:prstGeom prst="ellipse">
            <a:avLst/>
          </a:prstGeom>
          <a:solidFill>
            <a:srgbClr val="F6693D"/>
          </a:solidFill>
          <a:ln/>
        </p:spPr>
      </p:sp>
      <p:sp>
        <p:nvSpPr>
          <p:cNvPr id="8" name="Shape 6"/>
          <p:cNvSpPr/>
          <p:nvPr/>
        </p:nvSpPr>
        <p:spPr>
          <a:xfrm>
            <a:off x="7388352" y="1335024"/>
            <a:ext cx="219456" cy="219456"/>
          </a:xfrm>
          <a:prstGeom prst="ellipse">
            <a:avLst/>
          </a:prstGeom>
          <a:solidFill>
            <a:srgbClr val="FFB80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273552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099048" y="1664208"/>
            <a:ext cx="2587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20240"/>
            <a:ext cx="2587752" cy="54864"/>
          </a:xfrm>
          <a:prstGeom prst="rect">
            <a:avLst/>
          </a:prstGeom>
          <a:solidFill>
            <a:srgbClr val="00A854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Portfolio Foundations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Simple, fast, proven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94360" y="263347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questionnaire → ~5 allocation ETFs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" y="295351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Single-ticker portfolios (AOA, AOR, AOM, AOK)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327355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rebalancing required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359359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Pre-approved, compliance-ready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39319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4–6 wks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AI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73552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73552" y="1920240"/>
            <a:ext cx="2587752" cy="54864"/>
          </a:xfrm>
          <a:prstGeom prst="rect">
            <a:avLst/>
          </a:prstGeom>
          <a:solidFill>
            <a:srgbClr val="F6693D"/>
          </a:solidFill>
          <a:ln/>
        </p:spPr>
      </p:sp>
      <p:sp>
        <p:nvSpPr>
          <p:cNvPr id="23" name="Text 21"/>
          <p:cNvSpPr/>
          <p:nvPr/>
        </p:nvSpPr>
        <p:spPr>
          <a:xfrm>
            <a:off x="3410712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AI-Guided Portfolios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10712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matching, curated output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10712" y="263347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12-step adaptive intake + 3 AI open-text insights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410712" y="295351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risk-scored portfolios from 27 iShares ETFs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410712" y="327355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Multi-factor scoring from 6+ behavioral signals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410712" y="359359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overlays: AI, Clean, Infra, Defense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410712" y="39319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3–6 mos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$$$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AI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099048" y="1920240"/>
            <a:ext cx="2587752" cy="2331720"/>
          </a:xfrm>
          <a:prstGeom prst="roundRect">
            <a:avLst>
              <a:gd name="adj" fmla="val 3137"/>
            </a:avLst>
          </a:prstGeom>
          <a:solidFill>
            <a:srgbClr val="F7F7F7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99048" y="1920240"/>
            <a:ext cx="2587752" cy="54864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2" name="Text 30"/>
          <p:cNvSpPr/>
          <p:nvPr/>
        </p:nvSpPr>
        <p:spPr>
          <a:xfrm>
            <a:off x="6236208" y="2057400"/>
            <a:ext cx="23134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Portfolio Engine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23317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AI intelligence, ongoing engagement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36208" y="263347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profiles investors + constructs portfolios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36208" y="295351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bespoke allocations in real-time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236208" y="327355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chatbot for investor questions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236208" y="3593592"/>
            <a:ext cx="2313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agent: alerts, rebalancing, market insights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236208" y="3931920"/>
            <a:ext cx="23134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6–12 mos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$$$$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High AI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40" name="Text 38"/>
          <p:cNvSpPr/>
          <p:nvPr/>
        </p:nvSpPr>
        <p:spPr>
          <a:xfrm>
            <a:off x="1371600" y="4572000"/>
            <a:ext cx="6583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INTERNAL USE ONLY. NOT FOR DISTRIBUTION. THIS MATERIAL IS NOT INVESTMENT ADVICE.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8503920" y="464515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2026-04-01T03:12:55Z</dcterms:created>
  <dcterms:modified xsi:type="dcterms:W3CDTF">2026-04-01T03:12:55Z</dcterms:modified>
</cp:coreProperties>
</file>